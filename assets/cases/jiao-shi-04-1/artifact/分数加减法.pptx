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685800"/>
            <a:ext cx="2240280" cy="22402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2788920"/>
            <a:ext cx="1463040" cy="1463040"/>
          </a:xfrm>
          <a:prstGeom prst="ellipse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4617720"/>
            <a:ext cx="914400" cy="914400"/>
          </a:xfrm>
          <a:prstGeom prst="ellipse">
            <a:avLst/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五年级数学 · 分数的加法和减法 · 第 2 课时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1455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先通分 · 再计算 · 能约分的要约分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41248" y="393192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" y="467360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86968" y="4599838"/>
            <a:ext cx="365760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1168" y="4302760"/>
            <a:ext cx="4064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050288" y="393192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050288" y="467360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096008" y="4599838"/>
            <a:ext cx="365760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0208" y="4302760"/>
            <a:ext cx="4064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59328" y="393192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59328" y="4673600"/>
            <a:ext cx="45720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3305048" y="4599838"/>
            <a:ext cx="36576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779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课堂课件 · 适合投影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温故知新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5230368" cy="4617720"/>
          </a:xfrm>
          <a:prstGeom prst="roundRect">
            <a:avLst>
              <a:gd name="adj" fmla="val 178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9536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同分母，直接算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7824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9040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40255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21471" y="2194560"/>
            <a:ext cx="549212" cy="56692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2686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3902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5117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46333" y="2194560"/>
            <a:ext cx="549212" cy="56692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8346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1/8 + 3/8 ：涂色共 4 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62406" y="3721506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2136" y="3532886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18564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18564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748282" y="3721506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8012" y="3532886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504440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504440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534158" y="3721506"/>
            <a:ext cx="23774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13888" y="3532886"/>
            <a:ext cx="26416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90316" y="3291840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90316" y="3773932"/>
            <a:ext cx="2971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3320034" y="3721506"/>
            <a:ext cx="237744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分母不变，分子相加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7824" y="51023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结果能约分的，要约成最简分数。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36208" y="1298448"/>
            <a:ext cx="5385816" cy="4617720"/>
          </a:xfrm>
          <a:prstGeom prst="roundRect">
            <a:avLst>
              <a:gd name="adj" fmla="val 1782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28816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分母不同，怎么办？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528816" y="2084832"/>
            <a:ext cx="480060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1696" y="21396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分蛋糕：小明吃了 1/2 个，小红吃了 1/3 个。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927848" y="3310128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927848" y="3977640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3600" dirty="0"/>
          </a:p>
        </p:txBody>
      </p:sp>
      <p:sp>
        <p:nvSpPr>
          <p:cNvPr id="37" name="Shape 35"/>
          <p:cNvSpPr/>
          <p:nvPr/>
        </p:nvSpPr>
        <p:spPr>
          <a:xfrm>
            <a:off x="7968996" y="3909974"/>
            <a:ext cx="32918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94776" y="3643884"/>
            <a:ext cx="365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9015984" y="3310128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9015984" y="3977640"/>
            <a:ext cx="411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3600" dirty="0"/>
          </a:p>
        </p:txBody>
      </p:sp>
      <p:sp>
        <p:nvSpPr>
          <p:cNvPr id="41" name="Shape 39"/>
          <p:cNvSpPr/>
          <p:nvPr/>
        </p:nvSpPr>
        <p:spPr>
          <a:xfrm>
            <a:off x="9057132" y="3909974"/>
            <a:ext cx="329184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82912" y="3643884"/>
            <a:ext cx="365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10104120" y="3643884"/>
            <a:ext cx="365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?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6528816" y="4846320"/>
            <a:ext cx="4800600" cy="841248"/>
          </a:xfrm>
          <a:prstGeom prst="roundRect">
            <a:avLst>
              <a:gd name="adj" fmla="val 760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4919472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分母不一样，能直接加吗？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08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为什么要先通分？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4358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 → 每份的大小不一样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721358" cy="713232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20290" y="1645920"/>
            <a:ext cx="1721358" cy="713232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60934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0" y="201726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31386" y="1970938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810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等份，每份大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1136904" cy="713232"/>
          </a:xfrm>
          <a:prstGeom prst="rect">
            <a:avLst/>
          </a:prstGeom>
          <a:solidFill>
            <a:srgbClr val="E859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5836" y="2670048"/>
            <a:ext cx="1136904" cy="713232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4744" y="2670048"/>
            <a:ext cx="1136904" cy="713232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63347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06240" y="304139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31386" y="2995066"/>
            <a:ext cx="201168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834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等份，每份小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67588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通分以后 ↓  每份一样大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078224"/>
            <a:ext cx="552450" cy="65836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1382" y="4078224"/>
            <a:ext cx="552450" cy="65836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5836" y="4078224"/>
            <a:ext cx="552450" cy="658368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0290" y="4078224"/>
            <a:ext cx="552450" cy="65836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4744" y="4078224"/>
            <a:ext cx="552450" cy="65836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9198" y="4078224"/>
            <a:ext cx="552450" cy="658368"/>
          </a:xfrm>
          <a:prstGeom prst="rect">
            <a:avLst/>
          </a:prstGeom>
          <a:solidFill>
            <a:srgbClr val="DFE8F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405993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06240" y="443077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229100" y="4387494"/>
            <a:ext cx="182880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901184"/>
            <a:ext cx="552450" cy="658368"/>
          </a:xfrm>
          <a:prstGeom prst="rect">
            <a:avLst/>
          </a:prstGeom>
          <a:solidFill>
            <a:srgbClr val="E859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1382" y="4901184"/>
            <a:ext cx="552450" cy="658368"/>
          </a:xfrm>
          <a:prstGeom prst="rect">
            <a:avLst/>
          </a:prstGeom>
          <a:solidFill>
            <a:srgbClr val="E8590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5836" y="4901184"/>
            <a:ext cx="552450" cy="658368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20290" y="4901184"/>
            <a:ext cx="552450" cy="658368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4744" y="4901184"/>
            <a:ext cx="552450" cy="658368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9198" y="4901184"/>
            <a:ext cx="552450" cy="658368"/>
          </a:xfrm>
          <a:prstGeom prst="rect">
            <a:avLst/>
          </a:prstGeom>
          <a:solidFill>
            <a:srgbClr val="FBE0D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488289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206240" y="525373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229100" y="5210454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56875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 = 每份大小不同 = 单位不同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56248" y="1298448"/>
            <a:ext cx="5022799" cy="4526280"/>
          </a:xfrm>
          <a:prstGeom prst="roundRect">
            <a:avLst>
              <a:gd name="adj" fmla="val 1818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67144" y="1572768"/>
            <a:ext cx="4401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 分母不同，每份的大小就不同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67144" y="1956816"/>
            <a:ext cx="44010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单位不一样，不能直接相加——就像 2 个苹果和 3 个梨，不能算成 5 个苹果。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6867144" y="2788920"/>
            <a:ext cx="4401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 通分：把两个分数变成份数相同的分数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67144" y="3172968"/>
            <a:ext cx="44010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找分母 2 和 3 的最小公倍数 6，都变成 6 等份。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6867144" y="3675888"/>
            <a:ext cx="44010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 于是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40296" y="405993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40296" y="446786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965442" y="442153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86752" y="426389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605268" y="405993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605268" y="446786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7630414" y="4421530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70848" y="405993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070848" y="446786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9095994" y="442153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17304" y="426389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735820" y="405993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9735820" y="446786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9760966" y="4421530"/>
            <a:ext cx="201168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30568" y="4983480"/>
            <a:ext cx="4474159" cy="566928"/>
          </a:xfrm>
          <a:prstGeom prst="roundRect">
            <a:avLst>
              <a:gd name="adj" fmla="val 9677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0296" y="5047488"/>
            <a:ext cx="42547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份的大小一样了，就能相加。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08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例题1 · 异分母相加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小明吃了 1/2 个蛋糕，小红吃了 1/3 个，两人一共吃了多少？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84500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184500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34792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77412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14444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14444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564736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7356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844388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844388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5894680" y="2455062"/>
            <a:ext cx="402336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300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174332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174332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7224624" y="2455062"/>
            <a:ext cx="402336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7244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504276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04276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8554568" y="2455062"/>
            <a:ext cx="402336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 通分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 2 和 3 的最小公倍数是 6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" y="47000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" y="51079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66394" y="50616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7704" y="49039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06220" y="47000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6220" y="51079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531366" y="5061610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9684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85716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 计算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85716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分母不变，分子相加 3 + 2 = 5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604004" y="47000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04004" y="51079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629150" y="50616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0460" y="49039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268976" y="47000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268976" y="51079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294122" y="50616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15432" y="49039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933948" y="47000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933948" y="51079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5959094" y="5061610"/>
            <a:ext cx="201168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348472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 约分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348472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5/6 已是最简分数，不用再约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8366760" y="47000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8366760" y="51079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8391906" y="5061610"/>
            <a:ext cx="201168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" y="568756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57424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分母不同  →  先通分  →  再按同分母分数计算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08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例题2 · 异分母相减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减法的方法和加法完全一样，只是最后一步相减。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15108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15108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765400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8020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045052" y="1719072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045052" y="2534920"/>
            <a:ext cx="50292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4095344" y="2455062"/>
            <a:ext cx="40233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7964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374996" y="1719072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374996" y="2534920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5425288" y="2455062"/>
            <a:ext cx="715264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0836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017868" y="1719072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017868" y="2534920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7068160" y="2455062"/>
            <a:ext cx="715264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3708" y="2126996"/>
            <a:ext cx="447040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660740" y="1719072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660740" y="2534920"/>
            <a:ext cx="815848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8711032" y="2455062"/>
            <a:ext cx="715264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 通分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 4 和 6 的最小公倍数是 12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" y="47000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" y="51079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66394" y="50616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7704" y="49039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06220" y="4700016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6220" y="5107940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531366" y="5061610"/>
            <a:ext cx="357632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9684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85716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 计算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85716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分母不变，分子相减 9 − 2 = 7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604004" y="4700016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04004" y="5107940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629150" y="5061610"/>
            <a:ext cx="357632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6924" y="49039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25440" y="4700016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25440" y="5107940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5450586" y="5061610"/>
            <a:ext cx="357632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8360" y="49039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246876" y="4700016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246876" y="5107940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6272022" y="5061610"/>
            <a:ext cx="357632" cy="25603"/>
          </a:xfrm>
          <a:prstGeom prst="rect">
            <a:avLst/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3401568"/>
            <a:ext cx="3538728" cy="2121408"/>
          </a:xfrm>
          <a:prstGeom prst="roundRect">
            <a:avLst>
              <a:gd name="adj" fmla="val 3879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348472" y="3602736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 约分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348472" y="40233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7/12 已是最简分数，不用再约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8366760" y="4700016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8366760" y="5107940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8391906" y="5061610"/>
            <a:ext cx="357632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" y="568756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57424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通分  →  分母不变，分子相减  →  结果化成最简分数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易错点提醒 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5742432" cy="2157984"/>
          </a:xfrm>
          <a:prstGeom prst="roundRect">
            <a:avLst>
              <a:gd name="adj" fmla="val 3814"/>
            </a:avLst>
          </a:prstGeom>
          <a:solidFill>
            <a:srgbClr val="FFF0F4"/>
          </a:solidFill>
          <a:ln w="12700">
            <a:solidFill>
              <a:srgbClr val="FFF0F4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" y="1463040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错法一：不通分就加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77824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7824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05256" y="2315870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5776" y="214274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3248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3248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630680" y="2315870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1200" y="214274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28672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28672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356104" y="2315870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214274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054096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054096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081528" y="2315870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724912"/>
            <a:ext cx="5376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错！分子加分子、分母加分母，两份大小不同，不能直接加。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584448"/>
            <a:ext cx="5742432" cy="2157984"/>
          </a:xfrm>
          <a:prstGeom prst="roundRect">
            <a:avLst>
              <a:gd name="adj" fmla="val 3814"/>
            </a:avLst>
          </a:prstGeom>
          <a:solidFill>
            <a:srgbClr val="FFF0F4"/>
          </a:solidFill>
          <a:ln w="12700">
            <a:solidFill>
              <a:srgbClr val="FFF0F4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3767328"/>
            <a:ext cx="5193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错法二：只通分母，忘了分子也变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77824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77824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05256" y="4620158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5776" y="4447032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03248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03248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630680" y="4620158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1200" y="4447032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328672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328672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2356104" y="4620158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4447032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054096" y="422452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054096" y="4669536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081528" y="4620158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5093208"/>
            <a:ext cx="5193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错！分母乘了几，分子要乘同一个数。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565392" y="1280160"/>
            <a:ext cx="5013655" cy="4462272"/>
          </a:xfrm>
          <a:prstGeom prst="roundRect">
            <a:avLst>
              <a:gd name="adj" fmla="val 1844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1517904"/>
            <a:ext cx="44284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正确做法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894576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894576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6922008" y="2315870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2528" y="214274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620000" y="192024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620000" y="236524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7647432" y="2315870"/>
            <a:ext cx="219456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290779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6894576" y="335280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6922008" y="3303422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72528" y="3130296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620000" y="290779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620000" y="335280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7647432" y="3303422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97952" y="3130296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8345424" y="290779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8345424" y="335280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58" name="Shape 56"/>
          <p:cNvSpPr/>
          <p:nvPr/>
        </p:nvSpPr>
        <p:spPr>
          <a:xfrm>
            <a:off x="8372856" y="3303422"/>
            <a:ext cx="219456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39712" y="3968496"/>
            <a:ext cx="4465015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86016" y="4096512"/>
            <a:ext cx="417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先通分，分母都变成 4；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6986016" y="4498848"/>
            <a:ext cx="4172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分母变了，分子跟着变；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6986016" y="4901184"/>
            <a:ext cx="4172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分子分母同乘一个数，分数大小不变。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易错点提醒 ② + 口诀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9536" y="148132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公分母没找最小公倍数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9536" y="192024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绕远路的做法：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223113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260197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00684" y="2558694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2784" y="24165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82344" y="223113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82344" y="260197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05204" y="2558694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7304" y="24165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6864" y="223113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86864" y="260197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109724" y="2558694"/>
            <a:ext cx="325120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4064" y="24165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33624" y="223113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833624" y="260197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856484" y="2558694"/>
            <a:ext cx="325120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0824" y="24165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580384" y="223113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80384" y="260197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03244" y="2558694"/>
            <a:ext cx="325120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29626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6×4=24 当公分母 → 还要再约分，易错。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" y="329184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一步到位：最小公倍数 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" y="360273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77824" y="397357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00684" y="3930294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92784" y="37881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82344" y="360273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82344" y="3973576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505204" y="3930294"/>
            <a:ext cx="182880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97304" y="37881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086864" y="360273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2086864" y="397357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2109724" y="3930294"/>
            <a:ext cx="325120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4064" y="37881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2833624" y="360273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833624" y="397357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2856484" y="3930294"/>
            <a:ext cx="325120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0824" y="378815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580384" y="360273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580384" y="397357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3603244" y="3930294"/>
            <a:ext cx="32512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27064" y="128016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19672" y="148132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算完忘记约分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519672" y="195681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没算完 ×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37960" y="226771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537960" y="271272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6565392" y="2663342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15912" y="2490216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263384" y="226771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263384" y="271272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7290816" y="2663342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41336" y="2490216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988808" y="2267712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7988808" y="271272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33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8016240" y="2663342"/>
            <a:ext cx="219456" cy="25603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9672" y="305409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算完 √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537960" y="338328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6537960" y="382828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6565392" y="3778910"/>
            <a:ext cx="219456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15912" y="3605784"/>
            <a:ext cx="2438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7263384" y="3383280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7263384" y="3828288"/>
            <a:ext cx="27432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7290816" y="3778910"/>
            <a:ext cx="219456" cy="25603"/>
          </a:xfrm>
          <a:prstGeom prst="rect">
            <a:avLst/>
          </a:prstGeom>
          <a:solidFill>
            <a:srgbClr val="0E8F5F"/>
          </a:solidFill>
          <a:ln w="12700">
            <a:solidFill>
              <a:srgbClr val="0E8F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30184" y="3529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结果能约分的，要约成最简分数。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66928" y="4572000"/>
            <a:ext cx="11057839" cy="1481328"/>
          </a:xfrm>
          <a:prstGeom prst="roundRect">
            <a:avLst>
              <a:gd name="adj" fmla="val 7407"/>
            </a:avLst>
          </a:prstGeom>
          <a:solidFill>
            <a:srgbClr val="1F4E9C"/>
          </a:solidFill>
          <a:ln w="12700">
            <a:solidFill>
              <a:srgbClr val="1F4E9C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66928" y="47000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FD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口诀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66928" y="501091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先通分，再计算，能约分的要约分。</a:t>
            </a:r>
            <a:endParaRPr lang="en-US" sz="4000" dirty="0"/>
          </a:p>
        </p:txBody>
      </p:sp>
      <p:sp>
        <p:nvSpPr>
          <p:cNvPr id="72" name="Text 70"/>
          <p:cNvSpPr/>
          <p:nvPr/>
        </p:nvSpPr>
        <p:spPr>
          <a:xfrm>
            <a:off x="566928" y="568756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FD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三步：通分 → 计算 → 化简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随堂练习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959610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34516" y="175564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34516" y="216357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59662" y="2117242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0972" y="1959610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99488" y="175564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9488" y="216357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024634" y="2117242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5944" y="1959610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745994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34516" y="2542032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34516" y="294995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359662" y="2903626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80972" y="2745994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99488" y="2542032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99488" y="2949956"/>
            <a:ext cx="40792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024634" y="2903626"/>
            <a:ext cx="357632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2408" y="2745994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66928" y="3236976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532378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34516" y="33284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34516" y="37363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359662" y="36900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80972" y="35323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999488" y="3328416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999488" y="3736340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024634" y="3690010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45944" y="3532378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66928" y="411480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挑战关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66928" y="4535424"/>
            <a:ext cx="6446520" cy="658368"/>
          </a:xfrm>
          <a:prstGeom prst="roundRect">
            <a:avLst>
              <a:gd name="adj" fmla="val 9722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4830826"/>
            <a:ext cx="379984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34516" y="462686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334516" y="503478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359662" y="4988458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80972" y="483082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999488" y="4626864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999488" y="5034788"/>
            <a:ext cx="25146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2024634" y="4988458"/>
            <a:ext cx="201168" cy="2560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45944" y="4830826"/>
            <a:ext cx="223520" cy="340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566928" y="5303520"/>
            <a:ext cx="6446520" cy="804672"/>
          </a:xfrm>
          <a:prstGeom prst="roundRect">
            <a:avLst>
              <a:gd name="adj" fmla="val 7955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" y="5449824"/>
            <a:ext cx="5861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 应用：小明吃了 1/4，小红吃了 1/3，一共吃了多少？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287768" y="1207008"/>
            <a:ext cx="4291279" cy="4901184"/>
          </a:xfrm>
          <a:prstGeom prst="roundRect">
            <a:avLst>
              <a:gd name="adj" fmla="val 1918"/>
            </a:avLst>
          </a:prstGeom>
          <a:solidFill>
            <a:srgbClr val="F4F7FD"/>
          </a:solidFill>
          <a:ln w="12700">
            <a:solidFill>
              <a:srgbClr val="F4F7FD"/>
            </a:solidFill>
            <a:prstDash val="solid"/>
          </a:ln>
          <a:effectLst>
            <a:outerShdw sx="100000" sy="100000" kx="0" ky="0" algn="bl" rotWithShape="0" blurRad="88900" dist="25400" dir="5400000">
              <a:srgbClr val="9DAEC8">
                <a:alpha val="2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62088" y="1408176"/>
            <a:ext cx="37426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答案揭晓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562088" y="1847088"/>
            <a:ext cx="3742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先自己做，再看答案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543800" y="23591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854696" y="224942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854696" y="258318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875270" y="2542946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38160" y="2416302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398764" y="224942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398764" y="258318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419338" y="2542946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02952" y="2434844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0192512" y="2249424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10192512" y="2620264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10215372" y="2576982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380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854696" y="299923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854696" y="3332988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7875270" y="3292754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66176" y="3166110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526780" y="299923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526780" y="3332988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8547354" y="3292754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02952" y="3184652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0192512" y="299923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10192512" y="3370072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10215372" y="3326790"/>
            <a:ext cx="32512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43800" y="3858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7854696" y="374904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854696" y="4082796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7875270" y="4042562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38160" y="3915918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8398764" y="3749040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398764" y="4082796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419338" y="4042562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902952" y="3934460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10192512" y="374904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10192512" y="4119880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2000" dirty="0"/>
          </a:p>
        </p:txBody>
      </p:sp>
      <p:sp>
        <p:nvSpPr>
          <p:cNvPr id="85" name="Shape 83"/>
          <p:cNvSpPr/>
          <p:nvPr/>
        </p:nvSpPr>
        <p:spPr>
          <a:xfrm>
            <a:off x="10215372" y="4076598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43800" y="46085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7854696" y="4498848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7854696" y="483260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875270" y="4792370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38160" y="4665726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8398764" y="4498848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8398764" y="4832604"/>
            <a:ext cx="2057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8419338" y="4792370"/>
            <a:ext cx="164592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902952" y="4684268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10192512" y="449884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96" name="Text 94"/>
          <p:cNvSpPr/>
          <p:nvPr/>
        </p:nvSpPr>
        <p:spPr>
          <a:xfrm>
            <a:off x="10192512" y="4869688"/>
            <a:ext cx="22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97" name="Shape 95"/>
          <p:cNvSpPr/>
          <p:nvPr/>
        </p:nvSpPr>
        <p:spPr>
          <a:xfrm>
            <a:off x="10215372" y="4826406"/>
            <a:ext cx="18288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43800" y="53583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7854696" y="5248656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7854696" y="558241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7875270" y="5542178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66176" y="5415534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8526780" y="5248656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8526780" y="5582412"/>
            <a:ext cx="3337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8547354" y="5542178"/>
            <a:ext cx="292608" cy="25603"/>
          </a:xfrm>
          <a:prstGeom prst="rect">
            <a:avLst/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902952" y="5434076"/>
            <a:ext cx="203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8F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000" dirty="0"/>
          </a:p>
        </p:txBody>
      </p:sp>
      <p:sp>
        <p:nvSpPr>
          <p:cNvPr id="107" name="Text 105"/>
          <p:cNvSpPr/>
          <p:nvPr/>
        </p:nvSpPr>
        <p:spPr>
          <a:xfrm>
            <a:off x="10192512" y="524865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2000" dirty="0"/>
          </a:p>
        </p:txBody>
      </p:sp>
      <p:sp>
        <p:nvSpPr>
          <p:cNvPr id="108" name="Text 106"/>
          <p:cNvSpPr/>
          <p:nvPr/>
        </p:nvSpPr>
        <p:spPr>
          <a:xfrm>
            <a:off x="10192512" y="5619496"/>
            <a:ext cx="370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2000" dirty="0"/>
          </a:p>
        </p:txBody>
      </p:sp>
      <p:sp>
        <p:nvSpPr>
          <p:cNvPr id="109" name="Shape 107"/>
          <p:cNvSpPr/>
          <p:nvPr/>
        </p:nvSpPr>
        <p:spPr>
          <a:xfrm>
            <a:off x="10215372" y="5576214"/>
            <a:ext cx="325120" cy="25603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66928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异分母分数加减法 · 五年级数学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9795967" y="6400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94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异分母分数加减法</dc:title>
  <dc:subject>PptxGenJS Presentation</dc:subject>
  <dc:creator>五年级数学 · 异分母分数加减法</dc:creator>
  <cp:lastModifiedBy>五年级数学 · 异分母分数加减法</cp:lastModifiedBy>
  <cp:revision>1</cp:revision>
  <dcterms:created xsi:type="dcterms:W3CDTF">2026-10-12T18:17:03Z</dcterms:created>
  <dcterms:modified xsi:type="dcterms:W3CDTF">2026-10-12T18:17:03Z</dcterms:modified>
</cp:coreProperties>
</file>