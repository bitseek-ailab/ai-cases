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685800"/>
            <a:ext cx="2240280" cy="224028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2788920"/>
            <a:ext cx="1463040" cy="1463040"/>
          </a:xfrm>
          <a:prstGeom prst="ellipse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4617720"/>
            <a:ext cx="914400" cy="914400"/>
          </a:xfrm>
          <a:prstGeom prst="ellipse">
            <a:avLst/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五年级数学 · 分数的加法和减法 · 第 2 课时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1455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先通分 · 再计算 · 能约分的要约分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393192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" y="467360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86968" y="4599838"/>
            <a:ext cx="365760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1168" y="4302760"/>
            <a:ext cx="4064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050288" y="393192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050288" y="467360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2096008" y="4599838"/>
            <a:ext cx="365760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0208" y="4302760"/>
            <a:ext cx="4064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59328" y="393192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259328" y="467360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3305048" y="4599838"/>
            <a:ext cx="36576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课堂课件 · 适合投影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08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温故知新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5230368" cy="4617720"/>
          </a:xfrm>
          <a:prstGeom prst="roundRect">
            <a:avLst>
              <a:gd name="adj" fmla="val 1782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9536" y="1554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同分母，直接算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" y="2194560"/>
            <a:ext cx="549212" cy="56692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9040" y="2194560"/>
            <a:ext cx="549212" cy="56692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40255" y="2194560"/>
            <a:ext cx="549212" cy="56692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21471" y="2194560"/>
            <a:ext cx="549212" cy="56692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2686" y="2194560"/>
            <a:ext cx="549212" cy="56692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3902" y="2194560"/>
            <a:ext cx="549212" cy="56692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5117" y="2194560"/>
            <a:ext cx="549212" cy="56692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46333" y="2194560"/>
            <a:ext cx="549212" cy="56692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834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1/8 + 3/8 ：涂色共 4 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3291840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2688" y="3773932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62406" y="3721506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2136" y="3532886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18564" y="3291840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18564" y="3773932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748282" y="3721506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8012" y="3532886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504440" y="3291840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504440" y="3773932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2534158" y="3721506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3888" y="3532886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90316" y="3291840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90316" y="3773932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3320034" y="3721506"/>
            <a:ext cx="237744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分母不变，分子相加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7824" y="51023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结果能约分的，要约成最简分数。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36208" y="1298448"/>
            <a:ext cx="5385816" cy="4617720"/>
          </a:xfrm>
          <a:prstGeom prst="roundRect">
            <a:avLst>
              <a:gd name="adj" fmla="val 1782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28816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分母不同，怎么办？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28816" y="2084832"/>
            <a:ext cx="48006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1696" y="21396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分蛋糕：小明吃了 1/2 个，小红吃了 1/3 个。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927848" y="3310128"/>
            <a:ext cx="411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927848" y="3977640"/>
            <a:ext cx="411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3600" dirty="0"/>
          </a:p>
        </p:txBody>
      </p:sp>
      <p:sp>
        <p:nvSpPr>
          <p:cNvPr id="37" name="Shape 35"/>
          <p:cNvSpPr/>
          <p:nvPr/>
        </p:nvSpPr>
        <p:spPr>
          <a:xfrm>
            <a:off x="7968996" y="3909974"/>
            <a:ext cx="32918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94776" y="3643884"/>
            <a:ext cx="365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9015984" y="3310128"/>
            <a:ext cx="411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9015984" y="3977640"/>
            <a:ext cx="411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3600" dirty="0"/>
          </a:p>
        </p:txBody>
      </p:sp>
      <p:sp>
        <p:nvSpPr>
          <p:cNvPr id="41" name="Shape 39"/>
          <p:cNvSpPr/>
          <p:nvPr/>
        </p:nvSpPr>
        <p:spPr>
          <a:xfrm>
            <a:off x="9057132" y="3909974"/>
            <a:ext cx="32918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82912" y="3643884"/>
            <a:ext cx="365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10104120" y="3643884"/>
            <a:ext cx="365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?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6528816" y="4846320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0256" y="4919472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分母不一样，能直接加吗？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08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为什么要先通分？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6187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 → 每份的大小不一样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2315718" cy="621792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1700784"/>
            <a:ext cx="2315718" cy="621792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58968" y="166420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58968" y="207213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4114" y="2025802"/>
            <a:ext cx="201168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9048" y="17373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等份，每份大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523744"/>
            <a:ext cx="1533144" cy="621792"/>
          </a:xfrm>
          <a:prstGeom prst="rect">
            <a:avLst/>
          </a:prstGeom>
          <a:solidFill>
            <a:srgbClr val="E859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2076" y="2523744"/>
            <a:ext cx="1533144" cy="621792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7224" y="2523744"/>
            <a:ext cx="1533144" cy="621792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8968" y="248716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58968" y="289509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4114" y="2848762"/>
            <a:ext cx="201168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2560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等份，每份小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6928" y="33101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通分以后 ↓  每份一样大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3712464"/>
            <a:ext cx="750570" cy="548640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49502" y="3712464"/>
            <a:ext cx="750570" cy="548640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2076" y="3712464"/>
            <a:ext cx="750570" cy="548640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14650" y="3712464"/>
            <a:ext cx="750570" cy="548640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7224" y="3712464"/>
            <a:ext cx="750570" cy="548640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9798" y="3712464"/>
            <a:ext cx="750570" cy="548640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3657600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58968" y="4028440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1828" y="3985158"/>
            <a:ext cx="182880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443984"/>
            <a:ext cx="750570" cy="548640"/>
          </a:xfrm>
          <a:prstGeom prst="rect">
            <a:avLst/>
          </a:prstGeom>
          <a:solidFill>
            <a:srgbClr val="E859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49502" y="4443984"/>
            <a:ext cx="750570" cy="548640"/>
          </a:xfrm>
          <a:prstGeom prst="rect">
            <a:avLst/>
          </a:prstGeom>
          <a:solidFill>
            <a:srgbClr val="E859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32076" y="4443984"/>
            <a:ext cx="750570" cy="548640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14650" y="4443984"/>
            <a:ext cx="750570" cy="548640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97224" y="4443984"/>
            <a:ext cx="750570" cy="548640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9798" y="4443984"/>
            <a:ext cx="750570" cy="548640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58968" y="4389120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58968" y="4759960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481828" y="4716678"/>
            <a:ext cx="18288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56248" y="1298448"/>
            <a:ext cx="5022799" cy="4114800"/>
          </a:xfrm>
          <a:prstGeom prst="roundRect">
            <a:avLst>
              <a:gd name="adj" fmla="val 2000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67144" y="1572768"/>
            <a:ext cx="4401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 分母不同，每份的大小就不同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67144" y="1956816"/>
            <a:ext cx="44010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单位不一样，不能直接相加——就像 2 个苹果和 3 个梨，不能算成 5 个苹果。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6867144" y="2761488"/>
            <a:ext cx="4401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 通分：把两个分数变成份数相同的分数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67144" y="3145536"/>
            <a:ext cx="44010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找分母 2 和 3 的最小公倍数 6，都变成 6 等份。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6867144" y="3584448"/>
            <a:ext cx="44010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 于是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40296" y="396849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940296" y="437642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6965442" y="433009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86752" y="417245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605268" y="396849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605268" y="437642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630414" y="4330090"/>
            <a:ext cx="201168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70848" y="396849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070848" y="437642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9095994" y="433009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17304" y="417245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735820" y="396849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735820" y="437642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9760966" y="4330090"/>
            <a:ext cx="201168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30568" y="4773168"/>
            <a:ext cx="4474159" cy="512064"/>
          </a:xfrm>
          <a:prstGeom prst="roundRect">
            <a:avLst>
              <a:gd name="adj" fmla="val 10714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0296" y="4837176"/>
            <a:ext cx="42547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份的大小一样了，就能相加。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08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例题1 · 异分母相加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小明吃了 1/2 个蛋糕，小红吃了 1/3 个，两人一共吃了多少？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84500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184500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34792" y="2455062"/>
            <a:ext cx="40233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77412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14444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14444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64736" y="2455062"/>
            <a:ext cx="40233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7356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844388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844388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5894680" y="2455062"/>
            <a:ext cx="402336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300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174332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174332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7224624" y="2455062"/>
            <a:ext cx="402336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7244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504276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04276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8554568" y="2455062"/>
            <a:ext cx="402336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 通分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 2 和 3 的最小公倍数是 6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1248" y="471830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1248" y="512622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66394" y="5079898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7704" y="4922266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06220" y="471830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6220" y="512622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531366" y="5079898"/>
            <a:ext cx="201168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9684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85716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 计算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85716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分母不变，分子相加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604004" y="471830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04004" y="512622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629150" y="5079898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0460" y="4922266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268976" y="471830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268976" y="512622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5294122" y="5079898"/>
            <a:ext cx="201168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4004" y="523036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+ 2 = 5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92440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48472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 约分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348472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5/6 已是最简分数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366760" y="471830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366760" y="512622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8391906" y="5079898"/>
            <a:ext cx="201168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0" y="482803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不用再约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66928" y="568756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57424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  →  先通分  →  再按同分母分数计算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08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例题2 · 异分母相减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减法的方法和加法完全一样，只是最后一步相减。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15108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15108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765400" y="2455062"/>
            <a:ext cx="40233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8020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045052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045052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095344" y="2455062"/>
            <a:ext cx="40233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7964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374996" y="1719072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374996" y="2534920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5425288" y="2455062"/>
            <a:ext cx="715264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0836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017868" y="1719072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017868" y="2534920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7068160" y="2455062"/>
            <a:ext cx="715264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3708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660740" y="1719072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660740" y="2534920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8711032" y="2455062"/>
            <a:ext cx="715264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 通分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 4 和 6 的最小公倍数是 12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1248" y="471830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1248" y="512622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66394" y="5079898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7704" y="4922266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06220" y="4718304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6220" y="5126228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531366" y="5079898"/>
            <a:ext cx="357632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9684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85716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 计算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85716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分母不变，分子相减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604004" y="4718304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04004" y="5126228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629150" y="5079898"/>
            <a:ext cx="357632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6924" y="4922266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25440" y="4718304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25440" y="5126228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5450586" y="5079898"/>
            <a:ext cx="357632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4004" y="523036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9 − 2 = 7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92440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48472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 约分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348472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7/12 已是最简分数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366760" y="4718304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366760" y="5126228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8391906" y="5079898"/>
            <a:ext cx="357632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0" y="482803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不用再约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66928" y="568756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57424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通分  →  分母不变，分子相减  →  结果化成最简分数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08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易错点提醒 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5742432" cy="2157984"/>
          </a:xfrm>
          <a:prstGeom prst="roundRect">
            <a:avLst>
              <a:gd name="adj" fmla="val 3814"/>
            </a:avLst>
          </a:prstGeom>
          <a:solidFill>
            <a:srgbClr val="FFF0F4"/>
          </a:solidFill>
          <a:ln w="12700">
            <a:solidFill>
              <a:srgbClr val="FFF0F4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" y="1463040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 错法一：不通分就加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77824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7824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05256" y="2315870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5776" y="2142744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3248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3248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630680" y="2315870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1200" y="2142744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28672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28672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356104" y="2315870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2142744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054096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054096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081528" y="2315870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788920"/>
            <a:ext cx="5193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错！分子加分子、分母加分母 → 两份大小不一样，不能直接加。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66928" y="3584448"/>
            <a:ext cx="5742432" cy="2157984"/>
          </a:xfrm>
          <a:prstGeom prst="roundRect">
            <a:avLst>
              <a:gd name="adj" fmla="val 3814"/>
            </a:avLst>
          </a:prstGeom>
          <a:solidFill>
            <a:srgbClr val="FFF0F4"/>
          </a:solidFill>
          <a:ln w="12700">
            <a:solidFill>
              <a:srgbClr val="FFF0F4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3767328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 错法二：只通分母，忘了分子也变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77824" y="422452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77824" y="466953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05256" y="4620158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5776" y="4447032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03248" y="422452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03248" y="466953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630680" y="4620158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1200" y="4447032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328672" y="422452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328672" y="466953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2356104" y="4620158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6624" y="4447032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054096" y="422452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054096" y="466953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3081528" y="4620158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5093208"/>
            <a:ext cx="5193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错！分母乘了几，分子要乘同一个数。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565392" y="1280160"/>
            <a:ext cx="5013655" cy="4462272"/>
          </a:xfrm>
          <a:prstGeom prst="roundRect">
            <a:avLst>
              <a:gd name="adj" fmla="val 1844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0" y="1517904"/>
            <a:ext cx="44284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正确做法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894576" y="2066544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894576" y="2548636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6924294" y="2496210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04024" y="2307590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680452" y="2066544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7680452" y="2548636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600" dirty="0"/>
          </a:p>
        </p:txBody>
      </p:sp>
      <p:sp>
        <p:nvSpPr>
          <p:cNvPr id="47" name="Shape 45"/>
          <p:cNvSpPr/>
          <p:nvPr/>
        </p:nvSpPr>
        <p:spPr>
          <a:xfrm>
            <a:off x="7710170" y="2496210"/>
            <a:ext cx="237744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2798064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6894576" y="3280156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600" dirty="0"/>
          </a:p>
        </p:txBody>
      </p:sp>
      <p:sp>
        <p:nvSpPr>
          <p:cNvPr id="50" name="Shape 48"/>
          <p:cNvSpPr/>
          <p:nvPr/>
        </p:nvSpPr>
        <p:spPr>
          <a:xfrm>
            <a:off x="6924294" y="3227730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04024" y="3039110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7680452" y="2798064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7680452" y="3280156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600" dirty="0"/>
          </a:p>
        </p:txBody>
      </p:sp>
      <p:sp>
        <p:nvSpPr>
          <p:cNvPr id="54" name="Shape 52"/>
          <p:cNvSpPr/>
          <p:nvPr/>
        </p:nvSpPr>
        <p:spPr>
          <a:xfrm>
            <a:off x="7710170" y="3227730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89900" y="3039110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8466328" y="2798064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8466328" y="3280156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600" dirty="0"/>
          </a:p>
        </p:txBody>
      </p:sp>
      <p:sp>
        <p:nvSpPr>
          <p:cNvPr id="58" name="Shape 56"/>
          <p:cNvSpPr/>
          <p:nvPr/>
        </p:nvSpPr>
        <p:spPr>
          <a:xfrm>
            <a:off x="8496046" y="3227730"/>
            <a:ext cx="237744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39712" y="3803904"/>
            <a:ext cx="4465015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6016" y="3931920"/>
            <a:ext cx="417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先通分，分母都变成 4；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6986016" y="4334256"/>
            <a:ext cx="417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分母变了，分子跟着变；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6986016" y="4736592"/>
            <a:ext cx="4172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分子分母同乘一个数，分数大小不变。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08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易错点提醒 ② + 口诀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9536" y="148132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公分母没找最小公倍数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9536" y="192024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绕远路的做法：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2212848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2583688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00684" y="2540406"/>
            <a:ext cx="182880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2784" y="2398268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82344" y="2212848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82344" y="2583688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05204" y="2540406"/>
            <a:ext cx="182880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7304" y="2398268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6864" y="2212848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86864" y="2583688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109724" y="2540406"/>
            <a:ext cx="325120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4064" y="2398268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33624" y="2212848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833624" y="2583688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856484" y="2540406"/>
            <a:ext cx="325120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0824" y="2398268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580384" y="2212848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80384" y="2583688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603244" y="2540406"/>
            <a:ext cx="325120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292608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6×4=24 当公分母 → 还要再约分，容易出错。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9536" y="3310128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一步到位：最小公倍数 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" y="3639312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77824" y="4010152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00684" y="3966870"/>
            <a:ext cx="182880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92784" y="3824732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82344" y="3639312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82344" y="4010152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505204" y="3966870"/>
            <a:ext cx="182880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97304" y="3824732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086864" y="363931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086864" y="401015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2109724" y="3966870"/>
            <a:ext cx="325120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4064" y="3824732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2833624" y="363931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833624" y="401015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2856484" y="3966870"/>
            <a:ext cx="325120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0824" y="3824732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580384" y="363931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580384" y="401015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3603244" y="3966870"/>
            <a:ext cx="32512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27064" y="128016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19672" y="148132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算完忘记约分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519672" y="195681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没算完 ×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37960" y="226771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537960" y="271272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6565392" y="2663342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15912" y="2490216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263384" y="226771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263384" y="271272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7290816" y="2663342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41336" y="2490216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988808" y="226771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7988808" y="271272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8016240" y="2663342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9672" y="3127248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算完 √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537960" y="341985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6537960" y="3864864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6565392" y="3815486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15912" y="3642360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7263384" y="341985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7263384" y="3864864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67" name="Shape 65"/>
          <p:cNvSpPr/>
          <p:nvPr/>
        </p:nvSpPr>
        <p:spPr>
          <a:xfrm>
            <a:off x="7290816" y="3815486"/>
            <a:ext cx="219456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30184" y="35295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结果能约分的，要约成最简分数。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66928" y="4315968"/>
            <a:ext cx="11057839" cy="1554480"/>
          </a:xfrm>
          <a:prstGeom prst="roundRect">
            <a:avLst>
              <a:gd name="adj" fmla="val 7059"/>
            </a:avLst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66928" y="44805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FD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口诀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566928" y="479145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先通分，再计算，能约分的要约分。</a:t>
            </a:r>
            <a:endParaRPr lang="en-US" sz="4000" dirty="0"/>
          </a:p>
        </p:txBody>
      </p:sp>
      <p:sp>
        <p:nvSpPr>
          <p:cNvPr id="72" name="Text 70"/>
          <p:cNvSpPr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FD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三步：通分 → 计算 → 化简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08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随堂练习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644652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959610"/>
            <a:ext cx="37998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34516" y="175564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34516" y="216357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59662" y="2117242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0972" y="1959610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99488" y="175564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9488" y="216357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024634" y="2117242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5944" y="1959610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66928" y="2450592"/>
            <a:ext cx="644652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745994"/>
            <a:ext cx="37998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34516" y="254203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34516" y="294995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359662" y="2903626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80972" y="2745994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99488" y="2542032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99488" y="2949956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024634" y="2903626"/>
            <a:ext cx="357632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02408" y="2745994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66928" y="3236976"/>
            <a:ext cx="644652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532378"/>
            <a:ext cx="37998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34516" y="33284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34516" y="37363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359662" y="369001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80972" y="35323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999488" y="33284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999488" y="37363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024634" y="369001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45944" y="35323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66928" y="411480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挑战关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66928" y="4535424"/>
            <a:ext cx="6446520" cy="658368"/>
          </a:xfrm>
          <a:prstGeom prst="roundRect">
            <a:avLst>
              <a:gd name="adj" fmla="val 9722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4830826"/>
            <a:ext cx="37998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34516" y="462686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334516" y="503478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359662" y="4988458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80972" y="4830826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999488" y="462686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999488" y="503478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2024634" y="4988458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45944" y="4830826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566928" y="5303520"/>
            <a:ext cx="6446520" cy="804672"/>
          </a:xfrm>
          <a:prstGeom prst="roundRect">
            <a:avLst>
              <a:gd name="adj" fmla="val 7955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" y="5394960"/>
            <a:ext cx="5861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 应用：小明吃了蛋糕的 1/4，小红吃了 1/3，两人一共吃了多少？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7287768" y="1207008"/>
            <a:ext cx="4291279" cy="4901184"/>
          </a:xfrm>
          <a:prstGeom prst="roundRect">
            <a:avLst>
              <a:gd name="adj" fmla="val 1918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62088" y="1408176"/>
            <a:ext cx="37426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答案揭晓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562088" y="1847088"/>
            <a:ext cx="3742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先自己做，再看答案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543800" y="23591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854696" y="2249424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854696" y="2583180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7875270" y="2542946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38160" y="2416302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398764" y="2249424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398764" y="2583180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419338" y="2542946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02952" y="2434844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0192512" y="2249424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10192512" y="2620264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10215372" y="2576982"/>
            <a:ext cx="18288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4380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854696" y="2999232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7854696" y="3332988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7875270" y="3292754"/>
            <a:ext cx="292608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66176" y="3166110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526780" y="2999232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8526780" y="3332988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8547354" y="3292754"/>
            <a:ext cx="292608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02952" y="3184652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0192512" y="299923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10192512" y="337007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10215372" y="3326790"/>
            <a:ext cx="32512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43800" y="3858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7854696" y="3749040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7854696" y="4082796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7875270" y="4042562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38160" y="3915918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8398764" y="3749040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8398764" y="4082796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419338" y="4042562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902952" y="3934460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10192512" y="3749040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000" dirty="0"/>
          </a:p>
        </p:txBody>
      </p:sp>
      <p:sp>
        <p:nvSpPr>
          <p:cNvPr id="84" name="Text 82"/>
          <p:cNvSpPr/>
          <p:nvPr/>
        </p:nvSpPr>
        <p:spPr>
          <a:xfrm>
            <a:off x="10192512" y="4119880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000" dirty="0"/>
          </a:p>
        </p:txBody>
      </p:sp>
      <p:sp>
        <p:nvSpPr>
          <p:cNvPr id="85" name="Shape 83"/>
          <p:cNvSpPr/>
          <p:nvPr/>
        </p:nvSpPr>
        <p:spPr>
          <a:xfrm>
            <a:off x="10215372" y="4076598"/>
            <a:ext cx="18288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43800" y="46085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7854696" y="4498848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7854696" y="4832604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7875270" y="4792370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38160" y="4665726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8398764" y="4498848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8398764" y="4832604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8419338" y="4792370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902952" y="4684268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10192512" y="4498848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96" name="Text 94"/>
          <p:cNvSpPr/>
          <p:nvPr/>
        </p:nvSpPr>
        <p:spPr>
          <a:xfrm>
            <a:off x="10192512" y="4869688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97" name="Shape 95"/>
          <p:cNvSpPr/>
          <p:nvPr/>
        </p:nvSpPr>
        <p:spPr>
          <a:xfrm>
            <a:off x="10215372" y="4826406"/>
            <a:ext cx="18288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543800" y="53583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7854696" y="5248656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7854696" y="5582412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7875270" y="5542178"/>
            <a:ext cx="292608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66176" y="5415534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8526780" y="5248656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8526780" y="5582412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8547354" y="5542178"/>
            <a:ext cx="292608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902952" y="543407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107" name="Text 105"/>
          <p:cNvSpPr/>
          <p:nvPr/>
        </p:nvSpPr>
        <p:spPr>
          <a:xfrm>
            <a:off x="10192512" y="524865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10192512" y="561949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000" dirty="0"/>
          </a:p>
        </p:txBody>
      </p:sp>
      <p:sp>
        <p:nvSpPr>
          <p:cNvPr id="109" name="Shape 107"/>
          <p:cNvSpPr/>
          <p:nvPr/>
        </p:nvSpPr>
        <p:spPr>
          <a:xfrm>
            <a:off x="10215372" y="5576214"/>
            <a:ext cx="32512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异分母分数加减法</dc:title>
  <dc:subject>PptxGenJS Presentation</dc:subject>
  <dc:creator>五年级数学 · 异分母分数加减法</dc:creator>
  <cp:lastModifiedBy>五年级数学 · 异分母分数加减法</cp:lastModifiedBy>
  <cp:revision>1</cp:revision>
  <dcterms:created xsi:type="dcterms:W3CDTF">2026-10-12T18:15:19Z</dcterms:created>
  <dcterms:modified xsi:type="dcterms:W3CDTF">2026-10-12T18:15:19Z</dcterms:modified>
</cp:coreProperties>
</file>